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756"/>
          </a:solidFill>
          <a:ln>
            <a:solidFill>
              <a:srgbClr val="18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9191"/>
          </a:solidFill>
          <a:ln>
            <a:solidFill>
              <a:srgbClr val="2C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Microsoft YaHei"/>
              </a:defRPr>
            </a:pPr>
            <a:r>
              <a:t>大语言模型生成运动处方：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515600" cy="8229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3100" b="1">
                <a:solidFill>
                  <a:srgbClr val="99E0DB"/>
                </a:solidFill>
                <a:latin typeface="Microsoft YaHei"/>
              </a:defRPr>
            </a:pPr>
            <a:r>
              <a:t>从“能生成”到“能安全使用”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987552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900" b="0">
                <a:solidFill>
                  <a:srgbClr val="DCE6F0"/>
                </a:solidFill>
                <a:latin typeface="Microsoft YaHei"/>
              </a:defRPr>
            </a:pPr>
            <a:r>
              <a:t>组会文献汇报｜3篇相关研究的主要发现与方法启发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892040"/>
            <a:ext cx="1828800" cy="73152"/>
          </a:xfrm>
          <a:prstGeom prst="rect">
            <a:avLst/>
          </a:prstGeom>
          <a:solidFill>
            <a:srgbClr val="E18B31"/>
          </a:solidFill>
          <a:ln>
            <a:solidFill>
              <a:srgbClr val="E18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804672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400" b="0">
                <a:solidFill>
                  <a:srgbClr val="D7E1EB"/>
                </a:solidFill>
                <a:latin typeface="Microsoft YaHei"/>
              </a:defRPr>
            </a:pPr>
            <a:r>
              <a:t>汇报重点：研究问题、评价方法、结果边界、对系统评价的启示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36576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100" b="0">
                <a:solidFill>
                  <a:srgbClr val="B9CAD7"/>
                </a:solidFill>
                <a:latin typeface="Microsoft YaHei"/>
              </a:defRPr>
            </a:pPr>
            <a:r>
              <a:t>2026年10月｜组会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9191"/>
          </a:solidFill>
          <a:ln>
            <a:solidFill>
              <a:srgbClr val="2C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3327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2800" b="1">
                <a:solidFill>
                  <a:srgbClr val="183756"/>
                </a:solidFill>
                <a:latin typeface="Microsoft YaHei"/>
              </a:defRPr>
            </a:pPr>
            <a:r>
              <a:t>一、为什么要研究AI生成运动处方？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  <a:latin typeface="Microsoft YaHei"/>
              </a:defRPr>
            </a:pPr>
            <a:r>
              <a:t>先把问题说清楚：生成速度不等于临床或训练价值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38912"/>
            <a:ext cx="457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defRPr sz="1200" b="1">
                <a:solidFill>
                  <a:srgbClr val="2C9191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73152" cy="4297680"/>
          </a:xfrm>
          <a:prstGeom prst="rect">
            <a:avLst/>
          </a:prstGeom>
          <a:solidFill>
            <a:srgbClr val="2C9191"/>
          </a:solidFill>
          <a:ln>
            <a:solidFill>
              <a:srgbClr val="2C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490472"/>
            <a:ext cx="306324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800" b="1">
                <a:solidFill>
                  <a:srgbClr val="2C9191"/>
                </a:solidFill>
                <a:latin typeface="Microsoft YaHei"/>
              </a:defRPr>
            </a:pPr>
            <a:r>
              <a:t>现实需求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301752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运动处方需要同时考虑频率、强度、时间、类型、总量和进阶。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人工制定耗时，且不同人员经验差异较大。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73152" cy="4297680"/>
          </a:xfrm>
          <a:prstGeom prst="rect">
            <a:avLst/>
          </a:prstGeom>
          <a:solidFill>
            <a:srgbClr val="E18B31"/>
          </a:solidFill>
          <a:ln>
            <a:solidFill>
              <a:srgbClr val="E18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490472"/>
            <a:ext cx="306324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800" b="1">
                <a:solidFill>
                  <a:srgbClr val="E18B31"/>
                </a:solidFill>
                <a:latin typeface="Microsoft YaHei"/>
              </a:defRPr>
            </a:pPr>
            <a:r>
              <a:t>核心风险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20240"/>
            <a:ext cx="301752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内容看起来完整，但强度、进阶或禁忌提示可能不合理。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同一提示词重复生成，结果可能不稳定。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2588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25880"/>
            <a:ext cx="73152" cy="4297680"/>
          </a:xfrm>
          <a:prstGeom prst="rect">
            <a:avLst/>
          </a:prstGeom>
          <a:solidFill>
            <a:srgbClr val="2C75A3"/>
          </a:solidFill>
          <a:ln>
            <a:solidFill>
              <a:srgbClr val="2C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490472"/>
            <a:ext cx="306324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800" b="1">
                <a:solidFill>
                  <a:srgbClr val="2C75A3"/>
                </a:solidFill>
                <a:latin typeface="Microsoft YaHei"/>
              </a:defRPr>
            </a:pPr>
            <a:r>
              <a:t>研究需要回答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920240"/>
            <a:ext cx="301752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生成内容是否符合运动处方框架？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专家是否认可？不同模型谁更好？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重复生成是否稳定？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  <a:latin typeface="Microsoft YaHei"/>
              </a:defRPr>
            </a:pPr>
            <a:r>
              <a:t>资料来源：Feng &amp; Wang, 2026；Zhao et al., 2026；Wang et al.,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9191"/>
          </a:solidFill>
          <a:ln>
            <a:solidFill>
              <a:srgbClr val="2C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3327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2800" b="1">
                <a:solidFill>
                  <a:srgbClr val="183756"/>
                </a:solidFill>
                <a:latin typeface="Microsoft YaHei"/>
              </a:defRPr>
            </a:pPr>
            <a:r>
              <a:t>二、文献1：Feng &amp; Wang（2026）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  <a:latin typeface="Microsoft YaHei"/>
              </a:defRPr>
            </a:pPr>
            <a:r>
              <a:t>比较4个大语言模型生成运动处方的能力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38912"/>
            <a:ext cx="457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defRPr sz="1200" b="1">
                <a:solidFill>
                  <a:srgbClr val="2C9191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73152" cy="4480560"/>
          </a:xfrm>
          <a:prstGeom prst="rect">
            <a:avLst/>
          </a:prstGeom>
          <a:solidFill>
            <a:srgbClr val="2C75A3"/>
          </a:solidFill>
          <a:ln>
            <a:solidFill>
              <a:srgbClr val="2C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399032"/>
            <a:ext cx="484632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800" b="1">
                <a:solidFill>
                  <a:srgbClr val="2C75A3"/>
                </a:solidFill>
                <a:latin typeface="Microsoft YaHei"/>
              </a:defRPr>
            </a:pPr>
            <a:r>
              <a:t>研究设计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800600" cy="3749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30个合成患者画像：来自流行病学资料和临床指南。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4个模型：GPT-4o、Claude 3.7、DeepSeek R1、Grok-3。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每份处方按FITT-VP六个维度评价。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3名认证运动专家，0–10分独立评分。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23444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234440"/>
            <a:ext cx="73152" cy="4480560"/>
          </a:xfrm>
          <a:prstGeom prst="rect">
            <a:avLst/>
          </a:prstGeom>
          <a:solidFill>
            <a:srgbClr val="2C9191"/>
          </a:solidFill>
          <a:ln>
            <a:solidFill>
              <a:srgbClr val="2C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399032"/>
            <a:ext cx="50292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800" b="1">
                <a:solidFill>
                  <a:srgbClr val="2C9191"/>
                </a:solidFill>
                <a:latin typeface="Microsoft YaHei"/>
              </a:defRPr>
            </a:pPr>
            <a:r>
              <a:t>分析方法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4983480" cy="3749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重复测量方差分析（ANOVA）。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Bonferroni事后比较。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报告效应量，比较模型之间差异。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本质上是“静态模拟场景+专家评分”，不是临床结局研究。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  <a:latin typeface="Microsoft YaHei"/>
              </a:defRPr>
            </a:pPr>
            <a:r>
              <a:t>文献1：Feng H, Wang X. Front Physiol. 2026;17:1846567. doi:10.3389/fphys.2026.1846567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9191"/>
          </a:solidFill>
          <a:ln>
            <a:solidFill>
              <a:srgbClr val="2C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3327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2800" b="1">
                <a:solidFill>
                  <a:srgbClr val="183756"/>
                </a:solidFill>
                <a:latin typeface="Microsoft YaHei"/>
              </a:defRPr>
            </a:pPr>
            <a:r>
              <a:t>三、文献1主要发现：模型之间确实有差异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  <a:latin typeface="Microsoft YaHei"/>
              </a:defRPr>
            </a:pPr>
            <a:r>
              <a:t>但“分数更高”不能直接等同于“临床更有效”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38912"/>
            <a:ext cx="457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defRPr sz="1200" b="1">
                <a:solidFill>
                  <a:srgbClr val="2C9191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10698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210312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600" b="1">
                <a:solidFill>
                  <a:srgbClr val="69737D"/>
                </a:solidFill>
                <a:latin typeface="Microsoft YaHei"/>
              </a:defRPr>
            </a:pPr>
            <a:r>
              <a:t>总分（满分60）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20574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1500" b="1">
                <a:solidFill>
                  <a:srgbClr val="2C9191"/>
                </a:solidFill>
                <a:latin typeface="Microsoft YaHei"/>
              </a:defRPr>
            </a:pPr>
            <a:r>
              <a:t>Claude 3.7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3154680"/>
            <a:ext cx="1051560" cy="2057400"/>
          </a:xfrm>
          <a:prstGeom prst="roundRect">
            <a:avLst/>
          </a:prstGeom>
          <a:solidFill>
            <a:srgbClr val="2C9191"/>
          </a:solidFill>
          <a:ln>
            <a:solidFill>
              <a:srgbClr val="2C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349240"/>
            <a:ext cx="18288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1800" b="1">
                <a:solidFill>
                  <a:srgbClr val="183756"/>
                </a:solidFill>
                <a:latin typeface="Microsoft YaHei"/>
              </a:defRPr>
            </a:pPr>
            <a:r>
              <a:t>50.23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51760"/>
            <a:ext cx="20574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1500" b="1">
                <a:solidFill>
                  <a:srgbClr val="2C75A3"/>
                </a:solidFill>
                <a:latin typeface="Microsoft YaHei"/>
              </a:defRPr>
            </a:pPr>
            <a:r>
              <a:t>Grok-3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3154680"/>
            <a:ext cx="1051560" cy="1942303"/>
          </a:xfrm>
          <a:prstGeom prst="roundRect">
            <a:avLst/>
          </a:prstGeom>
          <a:solidFill>
            <a:srgbClr val="2C75A3"/>
          </a:solidFill>
          <a:ln>
            <a:solidFill>
              <a:srgbClr val="2C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5349240"/>
            <a:ext cx="18288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1800" b="1">
                <a:solidFill>
                  <a:srgbClr val="183756"/>
                </a:solidFill>
                <a:latin typeface="Microsoft YaHei"/>
              </a:defRPr>
            </a:pPr>
            <a:r>
              <a:t>47.42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51760"/>
            <a:ext cx="20574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1500" b="1">
                <a:solidFill>
                  <a:srgbClr val="E18B31"/>
                </a:solidFill>
                <a:latin typeface="Microsoft YaHei"/>
              </a:defRPr>
            </a:pPr>
            <a:r>
              <a:t>GPT-4o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154680"/>
            <a:ext cx="1051560" cy="1803040"/>
          </a:xfrm>
          <a:prstGeom prst="roundRect">
            <a:avLst/>
          </a:prstGeom>
          <a:solidFill>
            <a:srgbClr val="E18B31"/>
          </a:solidFill>
          <a:ln>
            <a:solidFill>
              <a:srgbClr val="E18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5349240"/>
            <a:ext cx="18288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1800" b="1">
                <a:solidFill>
                  <a:srgbClr val="183756"/>
                </a:solidFill>
                <a:latin typeface="Microsoft YaHei"/>
              </a:defRPr>
            </a:pPr>
            <a:r>
              <a:t>44.02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651760"/>
            <a:ext cx="20574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1500" b="1">
                <a:solidFill>
                  <a:srgbClr val="8496A5"/>
                </a:solidFill>
                <a:latin typeface="Microsoft YaHei"/>
              </a:defRPr>
            </a:pPr>
            <a:r>
              <a:t>DeepSeek R1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3154680"/>
            <a:ext cx="1051560" cy="1658863"/>
          </a:xfrm>
          <a:prstGeom prst="roundRect">
            <a:avLst/>
          </a:prstGeom>
          <a:solidFill>
            <a:srgbClr val="8496A5"/>
          </a:solidFill>
          <a:ln>
            <a:solidFill>
              <a:srgbClr val="849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5349240"/>
            <a:ext cx="18288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1800" b="1">
                <a:solidFill>
                  <a:srgbClr val="183756"/>
                </a:solidFill>
                <a:latin typeface="Microsoft YaHei"/>
              </a:defRPr>
            </a:pPr>
            <a:r>
              <a:t>40.50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606040"/>
            <a:ext cx="324612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2606040"/>
            <a:ext cx="73152" cy="3063240"/>
          </a:xfrm>
          <a:prstGeom prst="rect">
            <a:avLst/>
          </a:prstGeom>
          <a:solidFill>
            <a:srgbClr val="E18B31"/>
          </a:solidFill>
          <a:ln>
            <a:solidFill>
              <a:srgbClr val="E18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8" y="2770632"/>
            <a:ext cx="288036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800" b="1">
                <a:solidFill>
                  <a:srgbClr val="E18B31"/>
                </a:solidFill>
                <a:latin typeface="Microsoft YaHei"/>
              </a:defRPr>
            </a:pPr>
            <a:r>
              <a:t>怎么理解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200400"/>
            <a:ext cx="2834639" cy="2331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Claude 3.7在Time和Progression表现较好。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DeepSeek R1在Intensity和Type较弱。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Grok-3在复杂合并症场景仍有不足。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  <a:latin typeface="Microsoft YaHei"/>
              </a:defRPr>
            </a:pPr>
            <a:r>
              <a:t>关键边界：单次生成、静态合成画像、专家评分；未验证真实患者随访结局。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9191"/>
          </a:solidFill>
          <a:ln>
            <a:solidFill>
              <a:srgbClr val="2C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3327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2800" b="1">
                <a:solidFill>
                  <a:srgbClr val="183756"/>
                </a:solidFill>
                <a:latin typeface="Microsoft YaHei"/>
              </a:defRPr>
            </a:pPr>
            <a:r>
              <a:t>四、文献1给我们的启发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  <a:latin typeface="Microsoft YaHei"/>
              </a:defRPr>
            </a:pPr>
            <a:r>
              <a:t>评价运动处方，不能只看“语言是否通顺”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38912"/>
            <a:ext cx="457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defRPr sz="1200" b="1">
                <a:solidFill>
                  <a:srgbClr val="2C9191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73152" cy="4297680"/>
          </a:xfrm>
          <a:prstGeom prst="rect">
            <a:avLst/>
          </a:prstGeom>
          <a:solidFill>
            <a:srgbClr val="2C9191"/>
          </a:solidFill>
          <a:ln>
            <a:solidFill>
              <a:srgbClr val="2C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490472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800" b="1">
                <a:solidFill>
                  <a:srgbClr val="2C9191"/>
                </a:solidFill>
                <a:latin typeface="Microsoft YaHei"/>
              </a:defRPr>
            </a:pPr>
            <a:r>
              <a:t>启发1｜结构化评价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3063239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用FITT-VP把“好处方”拆成可检查的维度。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每个维度都可以单独发现短板。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2588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325880"/>
            <a:ext cx="73152" cy="4297680"/>
          </a:xfrm>
          <a:prstGeom prst="rect">
            <a:avLst/>
          </a:prstGeom>
          <a:solidFill>
            <a:srgbClr val="2C75A3"/>
          </a:solidFill>
          <a:ln>
            <a:solidFill>
              <a:srgbClr val="2C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490472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800" b="1">
                <a:solidFill>
                  <a:srgbClr val="2C75A3"/>
                </a:solidFill>
                <a:latin typeface="Microsoft YaHei"/>
              </a:defRPr>
            </a:pPr>
            <a:r>
              <a:t>启发2｜专家评价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1920240"/>
            <a:ext cx="3063239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专家不是简单打总分，而是提供专业参照。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评分者数量、评分工具和一致性都要交代。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32588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1325880"/>
            <a:ext cx="73152" cy="4297680"/>
          </a:xfrm>
          <a:prstGeom prst="rect">
            <a:avLst/>
          </a:prstGeom>
          <a:solidFill>
            <a:srgbClr val="E18B31"/>
          </a:solidFill>
          <a:ln>
            <a:solidFill>
              <a:srgbClr val="E18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490472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800" b="1">
                <a:solidFill>
                  <a:srgbClr val="E18B31"/>
                </a:solidFill>
                <a:latin typeface="Microsoft YaHei"/>
              </a:defRPr>
            </a:pPr>
            <a:r>
              <a:t>启发3｜谨慎解释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1920240"/>
            <a:ext cx="3063239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模型排名是特定场景下的比较结果。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不能把静态质量分数写成真实疗效。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  <a:latin typeface="Microsoft YaHei"/>
              </a:defRPr>
            </a:pPr>
            <a:r>
              <a:t>资料来源：Feng &amp; Wang, 2026；Zhao et al., 2026；Wang et al.,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9191"/>
          </a:solidFill>
          <a:ln>
            <a:solidFill>
              <a:srgbClr val="2C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3327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2800" b="1">
                <a:solidFill>
                  <a:srgbClr val="183756"/>
                </a:solidFill>
                <a:latin typeface="Microsoft YaHei"/>
              </a:defRPr>
            </a:pPr>
            <a:r>
              <a:t>五、文献2：Zhao等（2026）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  <a:latin typeface="Microsoft YaHei"/>
              </a:defRPr>
            </a:pPr>
            <a:r>
              <a:t>进一步追问：同一个模型，反复生成会不会变？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38912"/>
            <a:ext cx="457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defRPr sz="1200" b="1">
                <a:solidFill>
                  <a:srgbClr val="2C9191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73152" cy="4480560"/>
          </a:xfrm>
          <a:prstGeom prst="rect">
            <a:avLst/>
          </a:prstGeom>
          <a:solidFill>
            <a:srgbClr val="2C75A3"/>
          </a:solidFill>
          <a:ln>
            <a:solidFill>
              <a:srgbClr val="2C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399032"/>
            <a:ext cx="484632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800" b="1">
                <a:solidFill>
                  <a:srgbClr val="2C75A3"/>
                </a:solidFill>
                <a:latin typeface="Microsoft YaHei"/>
              </a:defRPr>
            </a:pPr>
            <a:r>
              <a:t>研究设计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800600" cy="3749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模拟100 m自由泳运动员。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4个模型：ChatGPT、Gemini、DeepSeek、豆包。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同一标准化提示词，每个模型独立生成5份。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共20份计划，由32名游泳教练/教师评价。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23444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234440"/>
            <a:ext cx="73152" cy="4480560"/>
          </a:xfrm>
          <a:prstGeom prst="rect">
            <a:avLst/>
          </a:prstGeom>
          <a:solidFill>
            <a:srgbClr val="2C9191"/>
          </a:solidFill>
          <a:ln>
            <a:solidFill>
              <a:srgbClr val="2C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399032"/>
            <a:ext cx="50292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800" b="1">
                <a:solidFill>
                  <a:srgbClr val="2C9191"/>
                </a:solidFill>
                <a:latin typeface="Microsoft YaHei"/>
              </a:defRPr>
            </a:pPr>
            <a:r>
              <a:t>评价与统计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4983480" cy="3749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评价热身和赛后即时放松两个部分。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40项多维评价工具。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使用ICC和Krippendorff’s alpha考察评价一致性。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使用累积链接混合模型，同时考虑模型、部分和生成批次。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  <a:latin typeface="Microsoft YaHei"/>
              </a:defRPr>
            </a:pPr>
            <a:r>
              <a:t>文献2：Zhao T, Peng Y, Chen Z, Wang X. Front Physiol. 2026;17:1923251. doi:10.3389/fphys.2026.1923231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9191"/>
          </a:solidFill>
          <a:ln>
            <a:solidFill>
              <a:srgbClr val="2C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3327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2800" b="1">
                <a:solidFill>
                  <a:srgbClr val="183756"/>
                </a:solidFill>
                <a:latin typeface="Microsoft YaHei"/>
              </a:defRPr>
            </a:pPr>
            <a:r>
              <a:t>六、文献2主要发现：模型表现与场景有关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  <a:latin typeface="Microsoft YaHei"/>
              </a:defRPr>
            </a:pPr>
            <a:r>
              <a:t>模型没有一个脱离任务场景的“绝对第一”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38912"/>
            <a:ext cx="457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defRPr sz="1200" b="1">
                <a:solidFill>
                  <a:srgbClr val="2C9191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4297680"/>
          </a:xfrm>
          <a:prstGeom prst="rect">
            <a:avLst/>
          </a:prstGeom>
          <a:solidFill>
            <a:srgbClr val="2C9191"/>
          </a:solidFill>
          <a:ln>
            <a:solidFill>
              <a:srgbClr val="2C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490472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800" b="1">
                <a:solidFill>
                  <a:srgbClr val="2C9191"/>
                </a:solidFill>
                <a:latin typeface="Microsoft YaHei"/>
              </a:defRPr>
            </a:pPr>
            <a:r>
              <a:t>总体结果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3063239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ChatGPT的描述性总体质量最高。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模型×运动环节存在显著交互。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73152" cy="4297680"/>
          </a:xfrm>
          <a:prstGeom prst="rect">
            <a:avLst/>
          </a:prstGeom>
          <a:solidFill>
            <a:srgbClr val="2C75A3"/>
          </a:solidFill>
          <a:ln>
            <a:solidFill>
              <a:srgbClr val="2C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490472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800" b="1">
                <a:solidFill>
                  <a:srgbClr val="2C75A3"/>
                </a:solidFill>
                <a:latin typeface="Microsoft YaHei"/>
              </a:defRPr>
            </a:pPr>
            <a:r>
              <a:t>更具体地看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20240"/>
            <a:ext cx="3063239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热身部分：ChatGPT高于DeepSeek和豆包。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放松部分：ChatGPT高于其他三个模型。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不同模型的优势可能随任务变化。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73152" cy="4297680"/>
          </a:xfrm>
          <a:prstGeom prst="rect">
            <a:avLst/>
          </a:prstGeom>
          <a:solidFill>
            <a:srgbClr val="E18B31"/>
          </a:solidFill>
          <a:ln>
            <a:solidFill>
              <a:srgbClr val="E18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490472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800" b="1">
                <a:solidFill>
                  <a:srgbClr val="E18B31"/>
                </a:solidFill>
                <a:latin typeface="Microsoft YaHei"/>
              </a:defRPr>
            </a:pPr>
            <a:r>
              <a:t>更重要的发现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920240"/>
            <a:ext cx="3063239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重复生成提供了“稳定性”视角。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生成结果需要评价模型、环节和批次。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仍然是模拟场景，不能替代真实比赛或临床验证。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  <a:latin typeface="Microsoft YaHei"/>
              </a:defRPr>
            </a:pPr>
            <a:r>
              <a:t>资料来源：Feng &amp; Wang, 2026；Zhao et al., 2026；Wang et al.,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9191"/>
          </a:solidFill>
          <a:ln>
            <a:solidFill>
              <a:srgbClr val="2C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3327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2800" b="1">
                <a:solidFill>
                  <a:srgbClr val="183756"/>
                </a:solidFill>
                <a:latin typeface="Microsoft YaHei"/>
              </a:defRPr>
            </a:pPr>
            <a:r>
              <a:t>七、文献3：WMRE2030框架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  <a:latin typeface="Microsoft YaHei"/>
              </a:defRPr>
            </a:pPr>
            <a:r>
              <a:t>从单次生成，走向“感知—决策—运动—反馈”的闭环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38912"/>
            <a:ext cx="457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defRPr sz="1200" b="1">
                <a:solidFill>
                  <a:srgbClr val="2C9191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148840" cy="1143000"/>
          </a:xfrm>
          <a:prstGeom prst="roundRect">
            <a:avLst/>
          </a:prstGeom>
          <a:solidFill>
            <a:srgbClr val="2C9191"/>
          </a:solidFill>
          <a:ln>
            <a:solidFill>
              <a:srgbClr val="2C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11680"/>
            <a:ext cx="19202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W｜Wearables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1874519" cy="10972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1400" b="0">
                <a:solidFill>
                  <a:srgbClr val="2D343C"/>
                </a:solidFill>
                <a:latin typeface="Microsoft YaHei"/>
              </a:defRPr>
            </a:pPr>
            <a:r>
              <a:t>可穿戴设备持续采集生理、行为和情境数据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148840"/>
            <a:ext cx="4572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2500" b="1">
                <a:solidFill>
                  <a:srgbClr val="69737D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148840" cy="1143000"/>
          </a:xfrm>
          <a:prstGeom prst="roundRect">
            <a:avLst/>
          </a:prstGeom>
          <a:solidFill>
            <a:srgbClr val="2C75A3"/>
          </a:solidFill>
          <a:ln>
            <a:solidFill>
              <a:srgbClr val="2C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2011680"/>
            <a:ext cx="19202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M｜Multi-omics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246120"/>
            <a:ext cx="1874519" cy="10972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1400" b="0">
                <a:solidFill>
                  <a:srgbClr val="2D343C"/>
                </a:solidFill>
                <a:latin typeface="Microsoft YaHei"/>
              </a:defRPr>
            </a:pPr>
            <a:r>
              <a:t>提供相对稳定的个体背景与安全约束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2148840"/>
            <a:ext cx="4572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2500" b="1">
                <a:solidFill>
                  <a:srgbClr val="69737D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1828800"/>
            <a:ext cx="2148840" cy="1143000"/>
          </a:xfrm>
          <a:prstGeom prst="roundRect">
            <a:avLst/>
          </a:prstGeom>
          <a:solidFill>
            <a:srgbClr val="E18B31"/>
          </a:solidFill>
          <a:ln>
            <a:solidFill>
              <a:srgbClr val="E18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2011680"/>
            <a:ext cx="19202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R｜Real-time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46120"/>
            <a:ext cx="1874519" cy="10972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1400" b="0">
                <a:solidFill>
                  <a:srgbClr val="2D343C"/>
                </a:solidFill>
                <a:latin typeface="Microsoft YaHei"/>
              </a:defRPr>
            </a:pPr>
            <a:r>
              <a:t>AI整合异构信息，形成可追踪的决策支持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2148840"/>
            <a:ext cx="4572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2500" b="1">
                <a:solidFill>
                  <a:srgbClr val="69737D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3999" y="1828800"/>
            <a:ext cx="2148840" cy="1143000"/>
          </a:xfrm>
          <a:prstGeom prst="roundRect">
            <a:avLst/>
          </a:prstGeom>
          <a:solidFill>
            <a:srgbClr val="6F879E"/>
          </a:solidFill>
          <a:ln>
            <a:solidFill>
              <a:srgbClr val="6F8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7" y="2011680"/>
            <a:ext cx="19202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E｜Exercise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3246120"/>
            <a:ext cx="1874519" cy="10972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1400" b="0">
                <a:solidFill>
                  <a:srgbClr val="2D343C"/>
                </a:solidFill>
                <a:latin typeface="Microsoft YaHei"/>
              </a:defRPr>
            </a:pPr>
            <a:r>
              <a:t>执行运动干预，再把结果反馈给系统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800600"/>
            <a:ext cx="10287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010912"/>
            <a:ext cx="98298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1700" b="1">
                <a:solidFill>
                  <a:srgbClr val="183756"/>
                </a:solidFill>
                <a:latin typeface="Microsoft YaHei"/>
              </a:defRPr>
            </a:pPr>
            <a:r>
              <a:t>作者明确强调：WMRE2030目前是“可检验的方法学路线”，不是已经验证的自主处方系统。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  <a:latin typeface="Microsoft YaHei"/>
              </a:defRPr>
            </a:pPr>
            <a:r>
              <a:t>文献3：Wang M et al. Front Physiol. 2026;17:1883295. doi:10.3389/fphys.2026.1883295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9191"/>
          </a:solidFill>
          <a:ln>
            <a:solidFill>
              <a:srgbClr val="2C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3327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2800" b="1">
                <a:solidFill>
                  <a:srgbClr val="183756"/>
                </a:solidFill>
                <a:latin typeface="Microsoft YaHei"/>
              </a:defRPr>
            </a:pPr>
            <a:r>
              <a:t>八、三篇文献放在一起看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  <a:latin typeface="Microsoft YaHei"/>
              </a:defRPr>
            </a:pPr>
            <a:r>
              <a:t>研究关注点正在从“生成质量”扩展到“稳定性和闭环应用”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38912"/>
            <a:ext cx="457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defRPr sz="1200" b="1">
                <a:solidFill>
                  <a:srgbClr val="2C9191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1234440" cy="502920"/>
          </a:xfrm>
          <a:prstGeom prst="rect">
            <a:avLst/>
          </a:prstGeom>
          <a:solidFill>
            <a:srgbClr val="183756"/>
          </a:solidFill>
          <a:ln>
            <a:solidFill>
              <a:srgbClr val="18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44168"/>
            <a:ext cx="114300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研究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234440"/>
            <a:ext cx="2331720" cy="502920"/>
          </a:xfrm>
          <a:prstGeom prst="rect">
            <a:avLst/>
          </a:prstGeom>
          <a:solidFill>
            <a:srgbClr val="183756"/>
          </a:solidFill>
          <a:ln>
            <a:solidFill>
              <a:srgbClr val="18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344168"/>
            <a:ext cx="2240279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主要问题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234440"/>
            <a:ext cx="2240280" cy="502920"/>
          </a:xfrm>
          <a:prstGeom prst="rect">
            <a:avLst/>
          </a:prstGeom>
          <a:solidFill>
            <a:srgbClr val="183756"/>
          </a:solidFill>
          <a:ln>
            <a:solidFill>
              <a:srgbClr val="18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344168"/>
            <a:ext cx="214884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对象/场景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234440"/>
            <a:ext cx="2468880" cy="502920"/>
          </a:xfrm>
          <a:prstGeom prst="rect">
            <a:avLst/>
          </a:prstGeom>
          <a:solidFill>
            <a:srgbClr val="183756"/>
          </a:solidFill>
          <a:ln>
            <a:solidFill>
              <a:srgbClr val="18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344168"/>
            <a:ext cx="237744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核心评价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234440"/>
            <a:ext cx="2743200" cy="502920"/>
          </a:xfrm>
          <a:prstGeom prst="rect">
            <a:avLst/>
          </a:prstGeom>
          <a:solidFill>
            <a:srgbClr val="183756"/>
          </a:solidFill>
          <a:ln>
            <a:solidFill>
              <a:srgbClr val="18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1344168"/>
            <a:ext cx="26517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主要边界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1764792"/>
            <a:ext cx="123444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1911096"/>
            <a:ext cx="1088136" cy="8412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300" b="1">
                <a:solidFill>
                  <a:srgbClr val="183756"/>
                </a:solidFill>
                <a:latin typeface="Microsoft YaHei"/>
              </a:defRPr>
            </a:pPr>
            <a:r>
              <a:t>Feng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1764792"/>
            <a:ext cx="233172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01952" y="1911096"/>
            <a:ext cx="2185415" cy="8412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300" b="0">
                <a:solidFill>
                  <a:srgbClr val="2D343C"/>
                </a:solidFill>
                <a:latin typeface="Microsoft YaHei"/>
              </a:defRPr>
            </a:pPr>
            <a:r>
              <a:t>不同模型谁生成得更好？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1764792"/>
            <a:ext cx="224028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33672" y="1911096"/>
            <a:ext cx="2093976" cy="8412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300" b="0">
                <a:solidFill>
                  <a:srgbClr val="2D343C"/>
                </a:solidFill>
                <a:latin typeface="Microsoft YaHei"/>
              </a:defRPr>
            </a:pPr>
            <a:r>
              <a:t>30个合成患者画像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764792"/>
            <a:ext cx="246888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1911096"/>
            <a:ext cx="2322576" cy="8412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300" b="0">
                <a:solidFill>
                  <a:srgbClr val="2D343C"/>
                </a:solidFill>
                <a:latin typeface="Microsoft YaHei"/>
              </a:defRPr>
            </a:pPr>
            <a:r>
              <a:t>FITT-VP+专家评分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1764792"/>
            <a:ext cx="274320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42832" y="1911096"/>
            <a:ext cx="2596896" cy="8412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300" b="0">
                <a:solidFill>
                  <a:srgbClr val="2D343C"/>
                </a:solidFill>
                <a:latin typeface="Microsoft YaHei"/>
              </a:defRPr>
            </a:pPr>
            <a:r>
              <a:t>单次生成；无真实结局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2999232"/>
            <a:ext cx="1234440" cy="1170432"/>
          </a:xfrm>
          <a:prstGeom prst="rect">
            <a:avLst/>
          </a:prstGeom>
          <a:solidFill>
            <a:srgbClr val="EBF2F7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3145536"/>
            <a:ext cx="1088136" cy="8412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300" b="1">
                <a:solidFill>
                  <a:srgbClr val="183756"/>
                </a:solidFill>
                <a:latin typeface="Microsoft YaHei"/>
              </a:defRPr>
            </a:pPr>
            <a:r>
              <a:t>Zhao 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2999232"/>
            <a:ext cx="2331720" cy="1170432"/>
          </a:xfrm>
          <a:prstGeom prst="rect">
            <a:avLst/>
          </a:prstGeom>
          <a:solidFill>
            <a:srgbClr val="EBF2F7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01952" y="3145536"/>
            <a:ext cx="2185415" cy="8412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300" b="0">
                <a:solidFill>
                  <a:srgbClr val="2D343C"/>
                </a:solidFill>
                <a:latin typeface="Microsoft YaHei"/>
              </a:defRPr>
            </a:pPr>
            <a:r>
              <a:t>同一模型是否稳定？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2999232"/>
            <a:ext cx="2240280" cy="1170432"/>
          </a:xfrm>
          <a:prstGeom prst="rect">
            <a:avLst/>
          </a:prstGeom>
          <a:solidFill>
            <a:srgbClr val="EBF2F7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33672" y="3145536"/>
            <a:ext cx="2093976" cy="8412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300" b="0">
                <a:solidFill>
                  <a:srgbClr val="2D343C"/>
                </a:solidFill>
                <a:latin typeface="Microsoft YaHei"/>
              </a:defRPr>
            </a:pPr>
            <a:r>
              <a:t>模拟100 m自由泳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999232"/>
            <a:ext cx="2468880" cy="1170432"/>
          </a:xfrm>
          <a:prstGeom prst="rect">
            <a:avLst/>
          </a:prstGeom>
          <a:solidFill>
            <a:srgbClr val="EBF2F7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3145536"/>
            <a:ext cx="2322576" cy="8412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300" b="0">
                <a:solidFill>
                  <a:srgbClr val="2D343C"/>
                </a:solidFill>
                <a:latin typeface="Microsoft YaHei"/>
              </a:defRPr>
            </a:pPr>
            <a:r>
              <a:t>多维评分+重复生成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2999232"/>
            <a:ext cx="2743200" cy="1170432"/>
          </a:xfrm>
          <a:prstGeom prst="rect">
            <a:avLst/>
          </a:prstGeom>
          <a:solidFill>
            <a:srgbClr val="EBF2F7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42832" y="3145536"/>
            <a:ext cx="2596896" cy="8412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300" b="0">
                <a:solidFill>
                  <a:srgbClr val="2D343C"/>
                </a:solidFill>
                <a:latin typeface="Microsoft YaHei"/>
              </a:defRPr>
            </a:pPr>
            <a:r>
              <a:t>模拟场景；稳定性仍需扩大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4233672"/>
            <a:ext cx="123444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4379976"/>
            <a:ext cx="1088136" cy="8412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300" b="1">
                <a:solidFill>
                  <a:srgbClr val="183756"/>
                </a:solidFill>
                <a:latin typeface="Microsoft YaHei"/>
              </a:defRPr>
            </a:pPr>
            <a:r>
              <a:t>Wang 2026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0" y="4233672"/>
            <a:ext cx="233172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01952" y="4379976"/>
            <a:ext cx="2185415" cy="8412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300" b="0">
                <a:solidFill>
                  <a:srgbClr val="2D343C"/>
                </a:solidFill>
                <a:latin typeface="Microsoft YaHei"/>
              </a:defRPr>
            </a:pPr>
            <a:r>
              <a:t>如何形成闭环系统？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0520" y="4233672"/>
            <a:ext cx="224028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33672" y="4379976"/>
            <a:ext cx="2093976" cy="8412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300" b="0">
                <a:solidFill>
                  <a:srgbClr val="2D343C"/>
                </a:solidFill>
                <a:latin typeface="Microsoft YaHei"/>
              </a:defRPr>
            </a:pPr>
            <a:r>
              <a:t>框架与方法路线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233672"/>
            <a:ext cx="246888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3952" y="4379976"/>
            <a:ext cx="2322576" cy="8412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300" b="0">
                <a:solidFill>
                  <a:srgbClr val="2D343C"/>
                </a:solidFill>
                <a:latin typeface="Microsoft YaHei"/>
              </a:defRPr>
            </a:pPr>
            <a:r>
              <a:t>架构、数据和监督机制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69680" y="4233672"/>
            <a:ext cx="274320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42832" y="4379976"/>
            <a:ext cx="2596896" cy="8412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300" b="0">
                <a:solidFill>
                  <a:srgbClr val="2D343C"/>
                </a:solidFill>
                <a:latin typeface="Microsoft YaHei"/>
              </a:defRPr>
            </a:pPr>
            <a:r>
              <a:t>框架尚未验证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1800" b="1">
                <a:solidFill>
                  <a:srgbClr val="2C9191"/>
                </a:solidFill>
                <a:latin typeface="Microsoft YaHei"/>
              </a:defRPr>
            </a:pPr>
            <a:r>
              <a:t>共同点：都强调专家监督、场景化评价和真实应用前的验证。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  <a:latin typeface="Microsoft YaHei"/>
              </a:defRPr>
            </a:pPr>
            <a:r>
              <a:t>资料来源：Feng &amp; Wang, 2026；Zhao et al., 2026；Wang et al.,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9191"/>
          </a:solidFill>
          <a:ln>
            <a:solidFill>
              <a:srgbClr val="2C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3327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2800" b="1">
                <a:solidFill>
                  <a:srgbClr val="183756"/>
                </a:solidFill>
                <a:latin typeface="Microsoft YaHei"/>
              </a:defRPr>
            </a:pPr>
            <a:r>
              <a:t>九、对我的系统评价有什么直接启发？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42416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  <a:latin typeface="Microsoft YaHei"/>
              </a:defRPr>
            </a:pPr>
            <a:r>
              <a:t>下一步不是简单汇总“哪个模型最好”，而是把证据拆开审查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38912"/>
            <a:ext cx="457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defRPr sz="1200" b="1">
                <a:solidFill>
                  <a:srgbClr val="2C9191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73152" cy="4526280"/>
          </a:xfrm>
          <a:prstGeom prst="rect">
            <a:avLst/>
          </a:prstGeom>
          <a:solidFill>
            <a:srgbClr val="2C9191"/>
          </a:solidFill>
          <a:ln>
            <a:solidFill>
              <a:srgbClr val="2C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399032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800" b="1">
                <a:solidFill>
                  <a:srgbClr val="2C9191"/>
                </a:solidFill>
                <a:latin typeface="Microsoft YaHei"/>
              </a:defRPr>
            </a:pPr>
            <a:r>
              <a:t>评价维度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3063239" cy="3794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处方内容：FITT-VP是否完整？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安全性：禁忌、风险和升级建议是否合理？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个体化：是否真正回应病例特征？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23444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234440"/>
            <a:ext cx="73152" cy="4526280"/>
          </a:xfrm>
          <a:prstGeom prst="rect">
            <a:avLst/>
          </a:prstGeom>
          <a:solidFill>
            <a:srgbClr val="2C75A3"/>
          </a:solidFill>
          <a:ln>
            <a:solidFill>
              <a:srgbClr val="2C7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99032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800" b="1">
                <a:solidFill>
                  <a:srgbClr val="2C75A3"/>
                </a:solidFill>
                <a:latin typeface="Microsoft YaHei"/>
              </a:defRPr>
            </a:pPr>
            <a:r>
              <a:t>研究质量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1828800"/>
            <a:ext cx="3063239" cy="3794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模拟研究与真实实施研究分开。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专家评分与客观结局分开。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单次生成与重复生成分开。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23444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1234440"/>
            <a:ext cx="73152" cy="4526280"/>
          </a:xfrm>
          <a:prstGeom prst="rect">
            <a:avLst/>
          </a:prstGeom>
          <a:solidFill>
            <a:srgbClr val="E18B31"/>
          </a:solidFill>
          <a:ln>
            <a:solidFill>
              <a:srgbClr val="E18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399032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1800" b="1">
                <a:solidFill>
                  <a:srgbClr val="E18B31"/>
                </a:solidFill>
                <a:latin typeface="Microsoft YaHei"/>
              </a:defRPr>
            </a:pPr>
            <a:r>
              <a:t>汇报结论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1828800"/>
            <a:ext cx="3063239" cy="3794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AI适合做结构化初稿和比较辅助。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不能替代运动医学/训练专业判断。</a:t>
            </a:r>
          </a:p>
          <a:p>
            <a:pPr>
              <a:spcAft>
                <a:spcPts val="800"/>
              </a:spcAft>
              <a:defRPr sz="1500">
                <a:solidFill>
                  <a:srgbClr val="2D343C"/>
                </a:solidFill>
                <a:latin typeface="Microsoft YaHei"/>
              </a:defRPr>
            </a:pPr>
            <a:r>
              <a:t>正式应用前需要人工监督、风险核查和真实场景验证。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989320"/>
            <a:ext cx="10378440" cy="347472"/>
          </a:xfrm>
          <a:prstGeom prst="roundRect">
            <a:avLst/>
          </a:prstGeom>
          <a:solidFill>
            <a:srgbClr val="183756"/>
          </a:solidFill>
          <a:ln>
            <a:solidFill>
              <a:srgbClr val="18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6053328"/>
            <a:ext cx="1010412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一句话总结：先证明“生成得像样”，再证明“稳定、安全吗”，最后才谈“能否改善真实结局”。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defRPr sz="800" b="0">
                <a:solidFill>
                  <a:srgbClr val="69737D"/>
                </a:solidFill>
                <a:latin typeface="Microsoft YaHei"/>
              </a:defRPr>
            </a:pPr>
            <a:r>
              <a:t>资料来源：Feng &amp; Wang, 2026；Zhao et al., 2026；Wang et al.,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